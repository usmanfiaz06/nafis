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8BDAEF-EA54-41CE-995C-EB3F5F07FDFF}" v="1" dt="2026-01-21T11:38:18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14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bib Salim Chalhoub" userId="39e1ec6c-e9c3-496d-8d66-0035bd751d74" providerId="ADAL" clId="{B70D3AEC-A021-4C59-BE71-DC315303B566}"/>
    <pc:docChg chg="custSel modSld">
      <pc:chgData name="Habib Salim Chalhoub" userId="39e1ec6c-e9c3-496d-8d66-0035bd751d74" providerId="ADAL" clId="{B70D3AEC-A021-4C59-BE71-DC315303B566}" dt="2026-01-21T11:38:18.623" v="1"/>
      <pc:docMkLst>
        <pc:docMk/>
      </pc:docMkLst>
      <pc:sldChg chg="addSp delSp modSp mod">
        <pc:chgData name="Habib Salim Chalhoub" userId="39e1ec6c-e9c3-496d-8d66-0035bd751d74" providerId="ADAL" clId="{B70D3AEC-A021-4C59-BE71-DC315303B566}" dt="2026-01-21T11:38:18.623" v="1"/>
        <pc:sldMkLst>
          <pc:docMk/>
          <pc:sldMk cId="0" sldId="256"/>
        </pc:sldMkLst>
        <pc:picChg chg="del">
          <ac:chgData name="Habib Salim Chalhoub" userId="39e1ec6c-e9c3-496d-8d66-0035bd751d74" providerId="ADAL" clId="{B70D3AEC-A021-4C59-BE71-DC315303B566}" dt="2026-01-21T11:38:18.184" v="0" actId="478"/>
          <ac:picMkLst>
            <pc:docMk/>
            <pc:sldMk cId="0" sldId="256"/>
            <ac:picMk id="7" creationId="{5599EFC5-4D7D-E6EF-5755-4B55C7D42ADD}"/>
          </ac:picMkLst>
        </pc:picChg>
        <pc:picChg chg="add mod">
          <ac:chgData name="Habib Salim Chalhoub" userId="39e1ec6c-e9c3-496d-8d66-0035bd751d74" providerId="ADAL" clId="{B70D3AEC-A021-4C59-BE71-DC315303B566}" dt="2026-01-21T11:38:18.623" v="1"/>
          <ac:picMkLst>
            <pc:docMk/>
            <pc:sldMk cId="0" sldId="256"/>
            <ac:picMk id="8" creationId="{3BEBB5A5-B592-2A64-ACB9-32FD501A11F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B64D1C-D39D-F43D-1CB4-66FC56E1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18407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10700" b="1" dirty="0"/>
              <a:t>NAFIS</a:t>
            </a:r>
            <a:br>
              <a:rPr lang="en-US" b="1" dirty="0"/>
            </a:br>
            <a:r>
              <a:rPr lang="en-US" b="1" dirty="0"/>
              <a:t>N</a:t>
            </a:r>
            <a:r>
              <a:rPr lang="en-US" dirty="0"/>
              <a:t>ational </a:t>
            </a:r>
            <a:r>
              <a:rPr lang="en-US" b="1" dirty="0"/>
              <a:t>A</a:t>
            </a:r>
            <a:r>
              <a:rPr lang="en-US" dirty="0"/>
              <a:t>gri-</a:t>
            </a:r>
            <a:r>
              <a:rPr lang="en-US" b="1" dirty="0"/>
              <a:t>F</a:t>
            </a:r>
            <a:r>
              <a:rPr lang="en-US" dirty="0"/>
              <a:t>ood </a:t>
            </a:r>
            <a:r>
              <a:rPr lang="en-US" b="1" dirty="0"/>
              <a:t>I</a:t>
            </a:r>
            <a:r>
              <a:rPr lang="en-US" dirty="0"/>
              <a:t>ntelligence </a:t>
            </a:r>
            <a:r>
              <a:rPr lang="en-US" b="1" dirty="0"/>
              <a:t>S</a:t>
            </a:r>
            <a:r>
              <a:rPr lang="en-US" dirty="0"/>
              <a:t>ystem</a:t>
            </a:r>
            <a:br>
              <a:rPr lang="en-US" b="1" dirty="0"/>
            </a:br>
            <a:r>
              <a:rPr lang="en-US" sz="2000" b="1" dirty="0"/>
              <a:t>A strategic platform for food security, trade resilience, and price stability</a:t>
            </a:r>
            <a:br>
              <a:rPr lang="en-US" dirty="0"/>
            </a:b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7CC2FB-D7E9-B3A4-15A9-CFD987082880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_digital_vector_logo_for_NAFIS,_the_National_Agri.png">
            <a:extLst>
              <a:ext uri="{FF2B5EF4-FFF2-40B4-BE49-F238E27FC236}">
                <a16:creationId xmlns:a16="http://schemas.microsoft.com/office/drawing/2014/main" id="{3BEBB5A5-B592-2A64-ACB9-32FD501A11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6" t="19707" r="13859" b="26354"/>
          <a:stretch>
            <a:fillRect/>
          </a:stretch>
        </p:blipFill>
        <p:spPr>
          <a:xfrm>
            <a:off x="292099" y="115808"/>
            <a:ext cx="2129779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06BC1-5F7B-B623-19D6-9DFD78AA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1EDB355-3BCB-17B8-1346-D3F171F3F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441688"/>
            <a:ext cx="8229600" cy="4721384"/>
          </a:xfrm>
        </p:spPr>
        <p:txBody>
          <a:bodyPr>
            <a:noAutofit/>
          </a:bodyPr>
          <a:lstStyle/>
          <a:p>
            <a:pPr algn="l"/>
            <a:r>
              <a:rPr lang="en-US" sz="2000" dirty="0"/>
              <a:t>Food security is no longer just about availability</a:t>
            </a:r>
            <a:br>
              <a:rPr lang="en-US" sz="2000" dirty="0"/>
            </a:br>
            <a:r>
              <a:rPr lang="en-US" sz="2000" dirty="0"/>
              <a:t>It is about </a:t>
            </a:r>
            <a:r>
              <a:rPr lang="en-US" sz="2000" b="1" dirty="0"/>
              <a:t>visibility, timing, and control</a:t>
            </a:r>
            <a:br>
              <a:rPr lang="en-US" sz="2000" dirty="0"/>
            </a:br>
            <a:r>
              <a:rPr lang="en-US" sz="2000" dirty="0"/>
              <a:t>Today, government visibility starts </a:t>
            </a:r>
            <a:r>
              <a:rPr lang="en-US" sz="2000" b="1" dirty="0"/>
              <a:t>too late </a:t>
            </a:r>
            <a:br>
              <a:rPr lang="en-US" sz="2000" b="1" dirty="0"/>
            </a:br>
            <a:br>
              <a:rPr lang="en-US" sz="2000" b="1" dirty="0"/>
            </a:br>
            <a:r>
              <a:rPr lang="en-US" sz="2000" dirty="0"/>
              <a:t>This creates: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reactive decisions</a:t>
            </a:r>
            <a:br>
              <a:rPr lang="en-US" sz="2000" dirty="0"/>
            </a:br>
            <a:r>
              <a:rPr lang="en-US" sz="2000" dirty="0"/>
              <a:t>price volatility</a:t>
            </a:r>
            <a:br>
              <a:rPr lang="en-US" sz="2000" dirty="0"/>
            </a:br>
            <a:r>
              <a:rPr lang="en-US" sz="2000" dirty="0"/>
              <a:t>avoidable risk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The issue is not authority — it is early intelligence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154A76-00AE-A624-3D19-54669584AD21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_digital_vector_logo_for_NAFIS,_the_National_Agri.png">
            <a:extLst>
              <a:ext uri="{FF2B5EF4-FFF2-40B4-BE49-F238E27FC236}">
                <a16:creationId xmlns:a16="http://schemas.microsoft.com/office/drawing/2014/main" id="{C7E21F28-4403-BB9C-54BB-ADB159D31B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6" t="19707" r="13859" b="26354"/>
          <a:stretch>
            <a:fillRect/>
          </a:stretch>
        </p:blipFill>
        <p:spPr>
          <a:xfrm>
            <a:off x="292099" y="115808"/>
            <a:ext cx="2129779" cy="1097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05BC9C-7198-1968-EAAF-E7278FC3F285}"/>
              </a:ext>
            </a:extLst>
          </p:cNvPr>
          <p:cNvSpPr txBox="1"/>
          <p:nvPr/>
        </p:nvSpPr>
        <p:spPr>
          <a:xfrm>
            <a:off x="2974340" y="392906"/>
            <a:ext cx="4615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Why This Matters Now</a:t>
            </a:r>
          </a:p>
        </p:txBody>
      </p:sp>
    </p:spTree>
    <p:extLst>
      <p:ext uri="{BB962C8B-B14F-4D97-AF65-F5344CB8AC3E}">
        <p14:creationId xmlns:p14="http://schemas.microsoft.com/office/powerpoint/2010/main" val="3672096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301BE-48F1-10F3-3B3B-1DA525C0E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AD8514-BB5F-2F5A-8204-CA8556F61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605994"/>
            <a:ext cx="8229600" cy="4721384"/>
          </a:xfrm>
        </p:spPr>
        <p:txBody>
          <a:bodyPr>
            <a:noAutofit/>
          </a:bodyPr>
          <a:lstStyle/>
          <a:p>
            <a:pPr algn="l"/>
            <a:r>
              <a:rPr lang="en-US" sz="2000" dirty="0"/>
              <a:t>Importers negotiate and place orders privately</a:t>
            </a:r>
            <a:br>
              <a:rPr lang="en-US" sz="2000" dirty="0"/>
            </a:br>
            <a:r>
              <a:rPr lang="en-US" sz="2000" dirty="0"/>
              <a:t>Government systems activate only when: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Shipment exists</a:t>
            </a:r>
            <a:br>
              <a:rPr lang="en-US" sz="2000" dirty="0"/>
            </a:br>
            <a:r>
              <a:rPr lang="en-US" sz="2000" dirty="0"/>
              <a:t>Customs declaration is filed</a:t>
            </a:r>
            <a:br>
              <a:rPr lang="en-US" sz="2000" dirty="0"/>
            </a:br>
            <a:r>
              <a:rPr lang="en-US" sz="2000" dirty="0"/>
              <a:t>Cargo arrives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By then: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Volumes are fixed</a:t>
            </a:r>
            <a:br>
              <a:rPr lang="en-US" sz="2000" dirty="0"/>
            </a:br>
            <a:r>
              <a:rPr lang="en-US" sz="2000" dirty="0"/>
              <a:t>Food is already produced</a:t>
            </a:r>
            <a:br>
              <a:rPr lang="en-US" sz="2000" dirty="0"/>
            </a:br>
            <a:r>
              <a:rPr lang="en-US" sz="2000" dirty="0"/>
              <a:t>Ships are already moving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b="1" dirty="0"/>
              <a:t>Government can only react, not manage.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AFB000-0139-8E42-8BB7-BD59A1B6743C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_digital_vector_logo_for_NAFIS,_the_National_Agri.png">
            <a:extLst>
              <a:ext uri="{FF2B5EF4-FFF2-40B4-BE49-F238E27FC236}">
                <a16:creationId xmlns:a16="http://schemas.microsoft.com/office/drawing/2014/main" id="{050F91A7-8E47-4341-7A69-4681801718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6" t="19707" r="13859" b="26354"/>
          <a:stretch>
            <a:fillRect/>
          </a:stretch>
        </p:blipFill>
        <p:spPr>
          <a:xfrm>
            <a:off x="292099" y="115808"/>
            <a:ext cx="2129779" cy="1097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DCE123-0535-9D24-0246-10E9E766546C}"/>
              </a:ext>
            </a:extLst>
          </p:cNvPr>
          <p:cNvSpPr txBox="1"/>
          <p:nvPr/>
        </p:nvSpPr>
        <p:spPr>
          <a:xfrm>
            <a:off x="2974340" y="392906"/>
            <a:ext cx="5083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How Food Imports Work Today</a:t>
            </a:r>
          </a:p>
        </p:txBody>
      </p:sp>
    </p:spTree>
    <p:extLst>
      <p:ext uri="{BB962C8B-B14F-4D97-AF65-F5344CB8AC3E}">
        <p14:creationId xmlns:p14="http://schemas.microsoft.com/office/powerpoint/2010/main" val="1156093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11221-57DD-D619-51E8-B2D17E49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DEBE35-7297-9D45-9D0E-D95369260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605994"/>
            <a:ext cx="8229600" cy="4721384"/>
          </a:xfrm>
        </p:spPr>
        <p:txBody>
          <a:bodyPr>
            <a:noAutofit/>
          </a:bodyPr>
          <a:lstStyle/>
          <a:p>
            <a:pPr algn="l"/>
            <a:r>
              <a:rPr lang="en-US" sz="2000" dirty="0"/>
              <a:t>“We see food when it arrives — not when it is decided.”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This gap limits the government’s ability to: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Anticipate shortages</a:t>
            </a:r>
            <a:br>
              <a:rPr lang="en-US" sz="2000" dirty="0"/>
            </a:br>
            <a:r>
              <a:rPr lang="en-US" sz="2000" dirty="0"/>
              <a:t>Protect local production</a:t>
            </a:r>
            <a:br>
              <a:rPr lang="en-US" sz="2000" dirty="0"/>
            </a:br>
            <a:r>
              <a:rPr lang="en-US" sz="2000" dirty="0"/>
              <a:t>Manage origin dependency</a:t>
            </a:r>
            <a:br>
              <a:rPr lang="en-US" sz="2000" dirty="0"/>
            </a:br>
            <a:r>
              <a:rPr lang="en-US" sz="2000" dirty="0"/>
              <a:t>Stabilize prices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E5618F-F59D-F4BA-7F6F-722915420310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_digital_vector_logo_for_NAFIS,_the_National_Agri.png">
            <a:extLst>
              <a:ext uri="{FF2B5EF4-FFF2-40B4-BE49-F238E27FC236}">
                <a16:creationId xmlns:a16="http://schemas.microsoft.com/office/drawing/2014/main" id="{FA767F9D-51BA-7321-16BB-68B82D234A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6" t="19707" r="13859" b="26354"/>
          <a:stretch>
            <a:fillRect/>
          </a:stretch>
        </p:blipFill>
        <p:spPr>
          <a:xfrm>
            <a:off x="292099" y="115808"/>
            <a:ext cx="2129779" cy="1097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189D49-C6B0-D778-CD33-CFCD87F61331}"/>
              </a:ext>
            </a:extLst>
          </p:cNvPr>
          <p:cNvSpPr txBox="1"/>
          <p:nvPr/>
        </p:nvSpPr>
        <p:spPr>
          <a:xfrm>
            <a:off x="2974340" y="392906"/>
            <a:ext cx="5083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Core Gap</a:t>
            </a:r>
          </a:p>
        </p:txBody>
      </p:sp>
    </p:spTree>
    <p:extLst>
      <p:ext uri="{BB962C8B-B14F-4D97-AF65-F5344CB8AC3E}">
        <p14:creationId xmlns:p14="http://schemas.microsoft.com/office/powerpoint/2010/main" val="3834772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9EADC-2A9C-7E38-B4DD-AD0F5518C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9EA298-D00F-F92C-FDCF-DCE9CD8BB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605994"/>
            <a:ext cx="8229600" cy="4721384"/>
          </a:xfrm>
        </p:spPr>
        <p:txBody>
          <a:bodyPr>
            <a:noAutofit/>
          </a:bodyPr>
          <a:lstStyle/>
          <a:p>
            <a:pPr algn="l"/>
            <a:r>
              <a:rPr lang="en-US" sz="2000" dirty="0"/>
              <a:t>NAFIS is a national control-tower that gives the government early visibility and policy control over food imports , before shipments exist.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2641AB-AC48-7D63-B9BF-D9164A7A8A2C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_digital_vector_logo_for_NAFIS,_the_National_Agri.png">
            <a:extLst>
              <a:ext uri="{FF2B5EF4-FFF2-40B4-BE49-F238E27FC236}">
                <a16:creationId xmlns:a16="http://schemas.microsoft.com/office/drawing/2014/main" id="{96A82367-FC8F-2754-2FBB-53FEBD9A11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6" t="19707" r="13859" b="26354"/>
          <a:stretch>
            <a:fillRect/>
          </a:stretch>
        </p:blipFill>
        <p:spPr>
          <a:xfrm>
            <a:off x="292099" y="115808"/>
            <a:ext cx="2129779" cy="1097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B4343A-173F-AF9A-902D-AA0E1F6C058C}"/>
              </a:ext>
            </a:extLst>
          </p:cNvPr>
          <p:cNvSpPr txBox="1"/>
          <p:nvPr/>
        </p:nvSpPr>
        <p:spPr>
          <a:xfrm>
            <a:off x="2974340" y="392906"/>
            <a:ext cx="5083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What NAFIS Is</a:t>
            </a:r>
          </a:p>
        </p:txBody>
      </p:sp>
    </p:spTree>
    <p:extLst>
      <p:ext uri="{BB962C8B-B14F-4D97-AF65-F5344CB8AC3E}">
        <p14:creationId xmlns:p14="http://schemas.microsoft.com/office/powerpoint/2010/main" val="762696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8B8DE-09E9-FE54-6718-B479B03DF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FF98C8-D92D-5858-7308-0DCDE80F6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605994"/>
            <a:ext cx="8229600" cy="4721384"/>
          </a:xfrm>
        </p:spPr>
        <p:txBody>
          <a:bodyPr>
            <a:noAutofit/>
          </a:bodyPr>
          <a:lstStyle/>
          <a:p>
            <a:pPr algn="l"/>
            <a:r>
              <a:rPr lang="en-US" sz="2000" dirty="0"/>
              <a:t>With NAFIS, visibility starts at: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Quotation</a:t>
            </a:r>
            <a:br>
              <a:rPr lang="en-US" sz="2000" dirty="0"/>
            </a:br>
            <a:r>
              <a:rPr lang="en-US" sz="2000" dirty="0"/>
              <a:t>Purchase intent</a:t>
            </a:r>
            <a:br>
              <a:rPr lang="en-US" sz="2000" dirty="0"/>
            </a:br>
            <a:r>
              <a:rPr lang="en-US" sz="2000" dirty="0"/>
              <a:t>Pre-approval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Government sees: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Planned volumes</a:t>
            </a:r>
            <a:br>
              <a:rPr lang="en-US" sz="2000" dirty="0"/>
            </a:br>
            <a:r>
              <a:rPr lang="en-US" sz="2000" dirty="0"/>
              <a:t>Origin concentration</a:t>
            </a:r>
            <a:br>
              <a:rPr lang="en-US" sz="2000" dirty="0"/>
            </a:br>
            <a:r>
              <a:rPr lang="en-US" sz="2000" dirty="0"/>
              <a:t>Delivery timelines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30–90 days before arrival.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9951BE-BF23-6360-78BB-596EF95140B9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_digital_vector_logo_for_NAFIS,_the_National_Agri.png">
            <a:extLst>
              <a:ext uri="{FF2B5EF4-FFF2-40B4-BE49-F238E27FC236}">
                <a16:creationId xmlns:a16="http://schemas.microsoft.com/office/drawing/2014/main" id="{E39BBEAA-EAA8-5899-3300-A91467E40C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6" t="19707" r="13859" b="26354"/>
          <a:stretch>
            <a:fillRect/>
          </a:stretch>
        </p:blipFill>
        <p:spPr>
          <a:xfrm>
            <a:off x="292099" y="115808"/>
            <a:ext cx="2129779" cy="1097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4AAC42-A887-A708-D2B7-3DB1CE15709F}"/>
              </a:ext>
            </a:extLst>
          </p:cNvPr>
          <p:cNvSpPr txBox="1"/>
          <p:nvPr/>
        </p:nvSpPr>
        <p:spPr>
          <a:xfrm>
            <a:off x="2974340" y="392906"/>
            <a:ext cx="5083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What Changes With NAFIS</a:t>
            </a:r>
          </a:p>
        </p:txBody>
      </p:sp>
    </p:spTree>
    <p:extLst>
      <p:ext uri="{BB962C8B-B14F-4D97-AF65-F5344CB8AC3E}">
        <p14:creationId xmlns:p14="http://schemas.microsoft.com/office/powerpoint/2010/main" val="4050758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3E9E-B58B-F640-0CC5-7A57BA99A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FEF611-FB30-02CF-A7FA-07751146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605994"/>
            <a:ext cx="8229600" cy="4721384"/>
          </a:xfrm>
        </p:spPr>
        <p:txBody>
          <a:bodyPr>
            <a:noAutofit/>
          </a:bodyPr>
          <a:lstStyle/>
          <a:p>
            <a:pPr algn="l"/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NAFIS does </a:t>
            </a:r>
            <a:r>
              <a:rPr lang="en-US" sz="2000" b="1" dirty="0"/>
              <a:t>NOT</a:t>
            </a:r>
            <a:r>
              <a:rPr lang="en-US" sz="2000" dirty="0"/>
              <a:t>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Replace FASAH or SABER</a:t>
            </a:r>
            <a:br>
              <a:rPr lang="en-US" sz="2000" dirty="0"/>
            </a:br>
            <a:r>
              <a:rPr lang="en-US" sz="2000" dirty="0"/>
              <a:t>Act as a trading platform</a:t>
            </a:r>
            <a:br>
              <a:rPr lang="en-US" sz="2000" dirty="0"/>
            </a:br>
            <a:r>
              <a:rPr lang="en-US" sz="2000" dirty="0"/>
              <a:t>Interfere in pricing</a:t>
            </a:r>
            <a:br>
              <a:rPr lang="en-US" sz="2000" dirty="0"/>
            </a:br>
            <a:r>
              <a:rPr lang="en-US" sz="2000" dirty="0"/>
              <a:t>Hold or move money</a:t>
            </a:r>
            <a:br>
              <a:rPr lang="en-US" sz="2000" dirty="0"/>
            </a:br>
            <a:r>
              <a:rPr lang="en-US" sz="2000" dirty="0"/>
              <a:t>Add bureaucracy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NAFIS </a:t>
            </a:r>
            <a:r>
              <a:rPr lang="en-US" sz="2000" b="1" dirty="0"/>
              <a:t>integrates</a:t>
            </a:r>
            <a:r>
              <a:rPr lang="en-US" sz="2000" dirty="0"/>
              <a:t>, coordinates, and simplifies.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765558-ECD7-0589-1799-D78B4A37377A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_digital_vector_logo_for_NAFIS,_the_National_Agri.png">
            <a:extLst>
              <a:ext uri="{FF2B5EF4-FFF2-40B4-BE49-F238E27FC236}">
                <a16:creationId xmlns:a16="http://schemas.microsoft.com/office/drawing/2014/main" id="{BC89E15E-2355-A760-B934-6CFD7C425D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6" t="19707" r="13859" b="26354"/>
          <a:stretch>
            <a:fillRect/>
          </a:stretch>
        </p:blipFill>
        <p:spPr>
          <a:xfrm>
            <a:off x="292099" y="115808"/>
            <a:ext cx="2129779" cy="1097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9E89D9-F69E-1098-B76B-B3EB4D014960}"/>
              </a:ext>
            </a:extLst>
          </p:cNvPr>
          <p:cNvSpPr txBox="1"/>
          <p:nvPr/>
        </p:nvSpPr>
        <p:spPr>
          <a:xfrm>
            <a:off x="2974340" y="392906"/>
            <a:ext cx="5083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What NAFIS Is NOT </a:t>
            </a:r>
          </a:p>
        </p:txBody>
      </p:sp>
    </p:spTree>
    <p:extLst>
      <p:ext uri="{BB962C8B-B14F-4D97-AF65-F5344CB8AC3E}">
        <p14:creationId xmlns:p14="http://schemas.microsoft.com/office/powerpoint/2010/main" val="1933111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40990-FC41-16D7-B897-0029D26EB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21D529-D374-A1C9-E63F-E04683060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605994"/>
            <a:ext cx="8229600" cy="4721384"/>
          </a:xfrm>
        </p:spPr>
        <p:txBody>
          <a:bodyPr>
            <a:noAutofit/>
          </a:bodyPr>
          <a:lstStyle/>
          <a:p>
            <a:pPr algn="l"/>
            <a:br>
              <a:rPr lang="en-US" sz="2000" dirty="0"/>
            </a:br>
            <a:r>
              <a:rPr lang="en-US" sz="2000" dirty="0"/>
              <a:t>NAFIS enables the government to: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Anticipate food shortages early</a:t>
            </a:r>
            <a:br>
              <a:rPr lang="en-US" sz="2000" dirty="0"/>
            </a:br>
            <a:r>
              <a:rPr lang="en-US" sz="2000" dirty="0"/>
              <a:t>Manage imports without bans</a:t>
            </a:r>
            <a:br>
              <a:rPr lang="en-US" sz="2000" dirty="0"/>
            </a:br>
            <a:r>
              <a:rPr lang="en-US" sz="2000" dirty="0"/>
              <a:t>Protect local producers proactively</a:t>
            </a:r>
            <a:br>
              <a:rPr lang="en-US" sz="2000" dirty="0"/>
            </a:br>
            <a:r>
              <a:rPr lang="en-US" sz="2000" dirty="0"/>
              <a:t>Respond quietly to geopolitical risks</a:t>
            </a:r>
            <a:br>
              <a:rPr lang="en-US" sz="2000" dirty="0"/>
            </a:br>
            <a:r>
              <a:rPr lang="en-US" sz="2000" dirty="0"/>
              <a:t>Stabilize markets without public shock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Precision policy instead of blunt intervention.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F67ABB-9D03-B944-1B13-8E17A3133FDD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_digital_vector_logo_for_NAFIS,_the_National_Agri.png">
            <a:extLst>
              <a:ext uri="{FF2B5EF4-FFF2-40B4-BE49-F238E27FC236}">
                <a16:creationId xmlns:a16="http://schemas.microsoft.com/office/drawing/2014/main" id="{814D59FC-67A3-4AC8-EDBD-BB9C5BE12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6" t="19707" r="13859" b="26354"/>
          <a:stretch>
            <a:fillRect/>
          </a:stretch>
        </p:blipFill>
        <p:spPr>
          <a:xfrm>
            <a:off x="292099" y="115808"/>
            <a:ext cx="2129779" cy="1097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BF8FF6-C307-732F-2B95-D115B5244136}"/>
              </a:ext>
            </a:extLst>
          </p:cNvPr>
          <p:cNvSpPr txBox="1"/>
          <p:nvPr/>
        </p:nvSpPr>
        <p:spPr>
          <a:xfrm>
            <a:off x="2974340" y="392906"/>
            <a:ext cx="5083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National Strategic Value</a:t>
            </a:r>
          </a:p>
        </p:txBody>
      </p:sp>
    </p:spTree>
    <p:extLst>
      <p:ext uri="{BB962C8B-B14F-4D97-AF65-F5344CB8AC3E}">
        <p14:creationId xmlns:p14="http://schemas.microsoft.com/office/powerpoint/2010/main" val="556540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7E979-B966-2D3E-B3EA-E74EC631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6C2D32D-4AD1-6D5D-E108-D8711CDBF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605994"/>
            <a:ext cx="8229600" cy="4721384"/>
          </a:xfrm>
        </p:spPr>
        <p:txBody>
          <a:bodyPr>
            <a:noAutofit/>
          </a:bodyPr>
          <a:lstStyle/>
          <a:p>
            <a:pPr algn="l"/>
            <a:br>
              <a:rPr lang="en-US" sz="2000" dirty="0"/>
            </a:br>
            <a:r>
              <a:rPr lang="en-US" sz="2000" i="1" dirty="0"/>
              <a:t>(Why adoption will be natural, not forced)</a:t>
            </a:r>
            <a:br>
              <a:rPr lang="en-US" sz="2000" i="1" dirty="0"/>
            </a:br>
            <a:br>
              <a:rPr lang="en-US" sz="2000" dirty="0"/>
            </a:br>
            <a:r>
              <a:rPr lang="en-US" sz="2000" b="1" dirty="0"/>
              <a:t>Importers gain:</a:t>
            </a:r>
            <a:br>
              <a:rPr lang="en-US" sz="2000" b="1" dirty="0"/>
            </a:br>
            <a:br>
              <a:rPr lang="en-US" sz="2000" b="1" dirty="0"/>
            </a:br>
            <a:r>
              <a:rPr lang="en-US" sz="2000" b="1" dirty="0"/>
              <a:t>F</a:t>
            </a:r>
            <a:r>
              <a:rPr lang="en-US" sz="2000" dirty="0"/>
              <a:t>ewer delays and rejections</a:t>
            </a:r>
            <a:br>
              <a:rPr lang="en-US" sz="2000" dirty="0"/>
            </a:br>
            <a:r>
              <a:rPr lang="en-US" sz="2000" dirty="0"/>
              <a:t>Lower compliance costs</a:t>
            </a:r>
            <a:br>
              <a:rPr lang="en-US" sz="2000" dirty="0"/>
            </a:br>
            <a:r>
              <a:rPr lang="en-US" sz="2000" dirty="0"/>
              <a:t>Faster approvals and clearance</a:t>
            </a:r>
            <a:br>
              <a:rPr lang="en-US" sz="2000" dirty="0"/>
            </a:br>
            <a:r>
              <a:rPr lang="en-US" sz="2000" dirty="0"/>
              <a:t>Better supplier competition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Suppliers gain:</a:t>
            </a:r>
            <a:br>
              <a:rPr lang="en-US" sz="2000" b="1" dirty="0"/>
            </a:br>
            <a:br>
              <a:rPr lang="en-US" sz="2000" b="1" dirty="0"/>
            </a:br>
            <a:r>
              <a:rPr lang="en-US" sz="2000" b="1" dirty="0"/>
              <a:t>A</a:t>
            </a:r>
            <a:r>
              <a:rPr lang="en-US" sz="2000" dirty="0"/>
              <a:t>ccess to verified demand</a:t>
            </a:r>
            <a:br>
              <a:rPr lang="en-US" sz="2000" dirty="0"/>
            </a:br>
            <a:r>
              <a:rPr lang="en-US" sz="2000" dirty="0"/>
              <a:t>Visibility to credible importers</a:t>
            </a:r>
            <a:br>
              <a:rPr lang="en-US" sz="2000" dirty="0"/>
            </a:br>
            <a:r>
              <a:rPr lang="en-US" sz="2000" dirty="0"/>
              <a:t>Reduced non-payment risk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b="1" dirty="0"/>
              <a:t>Lower costs → higher competition → better consumer prices.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EDDE5D-7949-EF2C-3B92-121CB218035D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_digital_vector_logo_for_NAFIS,_the_National_Agri.png">
            <a:extLst>
              <a:ext uri="{FF2B5EF4-FFF2-40B4-BE49-F238E27FC236}">
                <a16:creationId xmlns:a16="http://schemas.microsoft.com/office/drawing/2014/main" id="{97F13D21-E02B-89C4-49BB-0C505A6C85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6" t="19707" r="13859" b="26354"/>
          <a:stretch>
            <a:fillRect/>
          </a:stretch>
        </p:blipFill>
        <p:spPr>
          <a:xfrm>
            <a:off x="292099" y="115808"/>
            <a:ext cx="2129779" cy="1097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CDACC3-0E32-3E23-6FCD-5F02B4FF366D}"/>
              </a:ext>
            </a:extLst>
          </p:cNvPr>
          <p:cNvSpPr txBox="1"/>
          <p:nvPr/>
        </p:nvSpPr>
        <p:spPr>
          <a:xfrm>
            <a:off x="2974340" y="392906"/>
            <a:ext cx="5083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Value to Importers &amp; Exporters</a:t>
            </a:r>
          </a:p>
        </p:txBody>
      </p:sp>
    </p:spTree>
    <p:extLst>
      <p:ext uri="{BB962C8B-B14F-4D97-AF65-F5344CB8AC3E}">
        <p14:creationId xmlns:p14="http://schemas.microsoft.com/office/powerpoint/2010/main" val="191019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927B8-B63D-81EC-F23B-9ECA073C9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278BF4-7288-80D9-6BFC-F2027F6AC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605994"/>
            <a:ext cx="8229600" cy="4721384"/>
          </a:xfrm>
        </p:spPr>
        <p:txBody>
          <a:bodyPr>
            <a:noAutofit/>
          </a:bodyPr>
          <a:lstStyle/>
          <a:p>
            <a:pPr algn="l"/>
            <a:r>
              <a:rPr lang="en-US" sz="2000" dirty="0"/>
              <a:t>NAFIS introduces structured credibility indicators: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Quality performance history (Importer – Exporter)</a:t>
            </a:r>
            <a:br>
              <a:rPr lang="en-US" sz="2000" dirty="0"/>
            </a:br>
            <a:r>
              <a:rPr lang="en-US" sz="2000" dirty="0"/>
              <a:t>Document accuracy</a:t>
            </a:r>
            <a:br>
              <a:rPr lang="en-US" sz="2000" dirty="0"/>
            </a:br>
            <a:r>
              <a:rPr lang="en-US" sz="2000" dirty="0"/>
              <a:t>Payment reliability</a:t>
            </a:r>
            <a:br>
              <a:rPr lang="en-US" sz="2000" dirty="0"/>
            </a:br>
            <a:r>
              <a:rPr lang="en-US" sz="2000" dirty="0"/>
              <a:t>No public ratings</a:t>
            </a:r>
            <a:br>
              <a:rPr lang="en-US" sz="2000" dirty="0"/>
            </a:br>
            <a:r>
              <a:rPr lang="en-US" sz="2000" dirty="0"/>
              <a:t>No reputational damage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Trust becomes systemic, not personal.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71EB70-D09D-5507-226C-EE113CF67B54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_digital_vector_logo_for_NAFIS,_the_National_Agri.png">
            <a:extLst>
              <a:ext uri="{FF2B5EF4-FFF2-40B4-BE49-F238E27FC236}">
                <a16:creationId xmlns:a16="http://schemas.microsoft.com/office/drawing/2014/main" id="{C2ECC52E-6F6A-ADAC-B6F0-2818A591B1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6" t="19707" r="13859" b="26354"/>
          <a:stretch>
            <a:fillRect/>
          </a:stretch>
        </p:blipFill>
        <p:spPr>
          <a:xfrm>
            <a:off x="292099" y="115808"/>
            <a:ext cx="2129779" cy="1097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F60AAF-D613-A9BB-AC02-AC2CCDEA4DB1}"/>
              </a:ext>
            </a:extLst>
          </p:cNvPr>
          <p:cNvSpPr txBox="1"/>
          <p:nvPr/>
        </p:nvSpPr>
        <p:spPr>
          <a:xfrm>
            <a:off x="2974340" y="392906"/>
            <a:ext cx="5083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Trust &amp; Credibility Layer</a:t>
            </a:r>
          </a:p>
        </p:txBody>
      </p:sp>
    </p:spTree>
    <p:extLst>
      <p:ext uri="{BB962C8B-B14F-4D97-AF65-F5344CB8AC3E}">
        <p14:creationId xmlns:p14="http://schemas.microsoft.com/office/powerpoint/2010/main" val="1075146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E6318-97FF-FA51-CC72-FB2C28AD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B2B968-8A7B-75A7-7E83-D20B04AB3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605994"/>
            <a:ext cx="8229600" cy="4721384"/>
          </a:xfrm>
        </p:spPr>
        <p:txBody>
          <a:bodyPr>
            <a:noAutofit/>
          </a:bodyPr>
          <a:lstStyle/>
          <a:p>
            <a:pPr algn="l"/>
            <a:r>
              <a:rPr lang="en-US" sz="2000" b="1" dirty="0"/>
              <a:t>NAFIS creates revenue without acting as a tax</a:t>
            </a:r>
            <a:br>
              <a:rPr lang="en-US" sz="2000" b="1" dirty="0"/>
            </a:br>
            <a:r>
              <a:rPr lang="en-US" sz="2000" b="1" dirty="0"/>
              <a:t>How value is generated:</a:t>
            </a:r>
            <a:br>
              <a:rPr lang="en-US" sz="2000" b="1" dirty="0"/>
            </a:br>
            <a:br>
              <a:rPr lang="en-US" sz="2000" dirty="0"/>
            </a:br>
            <a:r>
              <a:rPr lang="en-US" sz="2000" dirty="0"/>
              <a:t>Replaces private brokers &amp; consultants</a:t>
            </a:r>
            <a:br>
              <a:rPr lang="en-US" sz="2000" dirty="0"/>
            </a:br>
            <a:r>
              <a:rPr lang="en-US" sz="2000" dirty="0"/>
              <a:t>Digitizes compliance and approvals</a:t>
            </a:r>
            <a:br>
              <a:rPr lang="en-US" sz="2000" dirty="0"/>
            </a:br>
            <a:r>
              <a:rPr lang="en-US" sz="2000" dirty="0"/>
              <a:t>Reduces waste, delays, and volatility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Illustrative steady-state value:</a:t>
            </a:r>
            <a:br>
              <a:rPr lang="en-US" sz="2000" b="1" dirty="0"/>
            </a:br>
            <a:br>
              <a:rPr lang="en-US" sz="2000" dirty="0"/>
            </a:br>
            <a:r>
              <a:rPr lang="en-US" sz="2000" dirty="0"/>
              <a:t>Service-based platform revenues: </a:t>
            </a:r>
            <a:r>
              <a:rPr lang="en-US" sz="2000" b="1" dirty="0"/>
              <a:t>~SAR 600–750M/year</a:t>
            </a:r>
            <a:br>
              <a:rPr lang="en-US" sz="2000" dirty="0"/>
            </a:br>
            <a:r>
              <a:rPr lang="en-US" sz="2000" dirty="0"/>
              <a:t>Importer net cost: </a:t>
            </a:r>
            <a:r>
              <a:rPr lang="en-US" sz="2000" b="1" dirty="0"/>
              <a:t>lower than today</a:t>
            </a:r>
            <a:br>
              <a:rPr lang="en-US" sz="2000" dirty="0"/>
            </a:br>
            <a:r>
              <a:rPr lang="en-US" sz="2000" dirty="0"/>
              <a:t>Indirect savings (waste, emergency action): </a:t>
            </a:r>
            <a:r>
              <a:rPr lang="en-US" sz="2000" b="1" dirty="0"/>
              <a:t>significantly higher</a:t>
            </a:r>
            <a:br>
              <a:rPr lang="en-US" sz="2000" b="1" dirty="0"/>
            </a:br>
            <a:br>
              <a:rPr lang="en-US" sz="2000" dirty="0"/>
            </a:br>
            <a:r>
              <a:rPr lang="en-US" sz="2000" b="1" dirty="0"/>
              <a:t>Value creation, not rent collection.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D7E5E1-B12D-818C-5F25-6E2A8660FC79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_digital_vector_logo_for_NAFIS,_the_National_Agri.png">
            <a:extLst>
              <a:ext uri="{FF2B5EF4-FFF2-40B4-BE49-F238E27FC236}">
                <a16:creationId xmlns:a16="http://schemas.microsoft.com/office/drawing/2014/main" id="{A34AA3E2-8F45-E404-D147-157098BEF5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6" t="19707" r="13859" b="26354"/>
          <a:stretch>
            <a:fillRect/>
          </a:stretch>
        </p:blipFill>
        <p:spPr>
          <a:xfrm>
            <a:off x="292099" y="115808"/>
            <a:ext cx="2129779" cy="1097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7E107F-E7EC-B5CC-5027-60AA3401681B}"/>
              </a:ext>
            </a:extLst>
          </p:cNvPr>
          <p:cNvSpPr txBox="1"/>
          <p:nvPr/>
        </p:nvSpPr>
        <p:spPr>
          <a:xfrm>
            <a:off x="2974340" y="392906"/>
            <a:ext cx="5083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Economic Value to the State</a:t>
            </a:r>
          </a:p>
        </p:txBody>
      </p:sp>
    </p:spTree>
    <p:extLst>
      <p:ext uri="{BB962C8B-B14F-4D97-AF65-F5344CB8AC3E}">
        <p14:creationId xmlns:p14="http://schemas.microsoft.com/office/powerpoint/2010/main" val="1063981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0F296-EF95-B801-238B-5D79B0506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CCF502-77B0-B4CC-73DA-6F7CF77AE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988" y="2105200"/>
            <a:ext cx="3474718" cy="2385157"/>
          </a:xfrm>
        </p:spPr>
        <p:txBody>
          <a:bodyPr>
            <a:noAutofit/>
          </a:bodyPr>
          <a:lstStyle/>
          <a:p>
            <a:pPr algn="l"/>
            <a:r>
              <a:rPr lang="en-US" sz="2000" b="1" dirty="0"/>
              <a:t>Without NAFIS:</a:t>
            </a:r>
            <a:br>
              <a:rPr lang="en-US" sz="2000" b="1" dirty="0"/>
            </a:br>
            <a:br>
              <a:rPr lang="en-US" sz="2000" dirty="0"/>
            </a:br>
            <a:r>
              <a:rPr lang="en-US" sz="2000" dirty="0"/>
              <a:t>Late visibility</a:t>
            </a:r>
            <a:br>
              <a:rPr lang="en-US" sz="2000" dirty="0"/>
            </a:br>
            <a:r>
              <a:rPr lang="en-US" sz="2000" dirty="0"/>
              <a:t>Reactive policy</a:t>
            </a:r>
            <a:br>
              <a:rPr lang="en-US" sz="2000" dirty="0"/>
            </a:br>
            <a:r>
              <a:rPr lang="en-US" sz="2000" dirty="0"/>
              <a:t>Higher price risk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F284A0-AF3C-C8D8-B0B4-81FEC0C83ED2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_digital_vector_logo_for_NAFIS,_the_National_Agri.png">
            <a:extLst>
              <a:ext uri="{FF2B5EF4-FFF2-40B4-BE49-F238E27FC236}">
                <a16:creationId xmlns:a16="http://schemas.microsoft.com/office/drawing/2014/main" id="{434109E6-AF29-EC07-3A82-61BE764721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6" t="19707" r="13859" b="26354"/>
          <a:stretch>
            <a:fillRect/>
          </a:stretch>
        </p:blipFill>
        <p:spPr>
          <a:xfrm>
            <a:off x="292099" y="115808"/>
            <a:ext cx="2129779" cy="1097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5AC272-1B42-9A3B-CED3-0EDC3F5BBA55}"/>
              </a:ext>
            </a:extLst>
          </p:cNvPr>
          <p:cNvSpPr txBox="1"/>
          <p:nvPr/>
        </p:nvSpPr>
        <p:spPr>
          <a:xfrm>
            <a:off x="2974340" y="392906"/>
            <a:ext cx="5083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Economic Value to the State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6F1D2E48-43B6-90DD-5617-DAF87EDDCB04}"/>
              </a:ext>
            </a:extLst>
          </p:cNvPr>
          <p:cNvSpPr txBox="1">
            <a:spLocks/>
          </p:cNvSpPr>
          <p:nvPr/>
        </p:nvSpPr>
        <p:spPr>
          <a:xfrm>
            <a:off x="4572000" y="2378880"/>
            <a:ext cx="3474719" cy="24462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/>
              <a:t>With NAFIS: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Early intelligence</a:t>
            </a:r>
          </a:p>
          <a:p>
            <a:pPr algn="l"/>
            <a:r>
              <a:rPr lang="en-US" sz="2000" dirty="0"/>
              <a:t>Calm markets</a:t>
            </a:r>
          </a:p>
          <a:p>
            <a:pPr algn="l"/>
            <a:r>
              <a:rPr lang="en-US" sz="2000" dirty="0"/>
              <a:t>Controlled imports</a:t>
            </a:r>
          </a:p>
          <a:p>
            <a:pPr algn="l"/>
            <a:r>
              <a:rPr lang="en-US" sz="2000" dirty="0"/>
              <a:t>Protected consumers</a:t>
            </a:r>
          </a:p>
          <a:p>
            <a:pPr algn="l"/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CCE630-C296-AB41-EDEE-8E6BF0492014}"/>
              </a:ext>
            </a:extLst>
          </p:cNvPr>
          <p:cNvSpPr txBox="1"/>
          <p:nvPr/>
        </p:nvSpPr>
        <p:spPr>
          <a:xfrm>
            <a:off x="755196" y="4617997"/>
            <a:ext cx="7633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“NAFIS gives the Kingdom the ability to see food risks before they happen and manage them intelligently, quietly, and without disrupting trade.”</a:t>
            </a:r>
          </a:p>
        </p:txBody>
      </p:sp>
    </p:spTree>
    <p:extLst>
      <p:ext uri="{BB962C8B-B14F-4D97-AF65-F5344CB8AC3E}">
        <p14:creationId xmlns:p14="http://schemas.microsoft.com/office/powerpoint/2010/main" val="33916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636</Words>
  <Application>Microsoft Office PowerPoint</Application>
  <PresentationFormat>On-screen Show (4:3)</PresentationFormat>
  <Paragraphs>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NAFIS National Agri-Food Intelligence System A strategic platform for food security, trade resilience, and price stability </vt:lpstr>
      <vt:lpstr>Food security is no longer just about availability It is about visibility, timing, and control Today, government visibility starts too late   This creates:  reactive decisions price volatility avoidable risk   The issue is not authority — it is early intelligence </vt:lpstr>
      <vt:lpstr>Importers negotiate and place orders privately Government systems activate only when:  Shipment exists Customs declaration is filed Cargo arrives  By then:  Volumes are fixed Food is already produced Ships are already moving   Government can only react, not manage.  </vt:lpstr>
      <vt:lpstr>“We see food when it arrives — not when it is decided.”  This gap limits the government’s ability to:  Anticipate shortages Protect local production Manage origin dependency Stabilize prices   </vt:lpstr>
      <vt:lpstr>NAFIS is a national control-tower that gives the government early visibility and policy control over food imports , before shipments exist.   </vt:lpstr>
      <vt:lpstr>With NAFIS, visibility starts at:  Quotation Purchase intent Pre-approval  Government sees:  Planned volumes Origin concentration Delivery timelines  30–90 days before arrival.    </vt:lpstr>
      <vt:lpstr>  NAFIS does NOT:  Replace FASAH or SABER Act as a trading platform Interfere in pricing Hold or move money Add bureaucracy  NAFIS integrates, coordinates, and simplifies.     </vt:lpstr>
      <vt:lpstr> NAFIS enables the government to:  Anticipate food shortages early Manage imports without bans Protect local producers proactively Respond quietly to geopolitical risks Stabilize markets without public shock  Precision policy instead of blunt intervention.      </vt:lpstr>
      <vt:lpstr> (Why adoption will be natural, not forced)  Importers gain:  Fewer delays and rejections Lower compliance costs Faster approvals and clearance Better supplier competition  Suppliers gain:  Access to verified demand Visibility to credible importers Reduced non-payment risk   Lower costs → higher competition → better consumer prices.      </vt:lpstr>
      <vt:lpstr>NAFIS introduces structured credibility indicators:  Quality performance history (Importer – Exporter) Document accuracy Payment reliability No public ratings No reputational damage  Trust becomes systemic, not personal. </vt:lpstr>
      <vt:lpstr>NAFIS creates revenue without acting as a tax How value is generated:  Replaces private brokers &amp; consultants Digitizes compliance and approvals Reduces waste, delays, and volatility  Illustrative steady-state value:  Service-based platform revenues: ~SAR 600–750M/year Importer net cost: lower than today Indirect savings (waste, emergency action): significantly higher  Value creation, not rent collection.  </vt:lpstr>
      <vt:lpstr>Without NAFIS:  Late visibility Reactive policy Higher price risk  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Habib Salim Chalhoub</dc:creator>
  <cp:keywords/>
  <dc:description>generated using python-pptx</dc:description>
  <cp:lastModifiedBy>Habib Salim Chalhoub</cp:lastModifiedBy>
  <cp:revision>2</cp:revision>
  <dcterms:created xsi:type="dcterms:W3CDTF">2013-01-27T09:14:16Z</dcterms:created>
  <dcterms:modified xsi:type="dcterms:W3CDTF">2026-01-21T11:38:29Z</dcterms:modified>
  <cp:category/>
</cp:coreProperties>
</file>